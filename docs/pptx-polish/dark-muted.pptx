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pic>
        <p:nvPicPr>
          <p:cNvPr id="3" name="Picture 2" descr="eh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03504"/>
            <a:ext cx="1783080" cy="1753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-1188720" y="2231136"/>
            <a:ext cx="8366760" cy="1883664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System Health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5526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DAED43"/>
                </a:solidFill>
                <a:latin typeface="Arial"/>
              </a:rPr>
              <a:t>ExtraHop SE Organization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4672" y="5577840"/>
            <a:ext cx="38404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REPORT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Last 7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1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Thomas Smith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5742432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FFFFFF"/>
                </a:solidFill>
                <a:latin typeface="Arial"/>
              </a:rPr>
              <a:t>GENERATED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5961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25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Fleet health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78 sensors · Last 7 days · Peak 1-hour averages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2</a:t>
            </a:r>
          </a:p>
        </p:txBody>
      </p:sp>
      <p:pic>
        <p:nvPicPr>
          <p:cNvPr id="8" name="Picture 7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38988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F1EFF8"/>
                </a:solidFill>
                <a:latin typeface="Arial"/>
              </a:rPr>
              <a:t>62 of 78 sensors returned no data. Capacity is not the constraint — reachability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38528"/>
            <a:ext cx="1926476" cy="31089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8560" y="1938528"/>
            <a:ext cx="247778" cy="310896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8343" y="1938528"/>
            <a:ext cx="8641267" cy="310896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91156"/>
            <a:ext cx="91440" cy="91440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14  Reporting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91156"/>
            <a:ext cx="91440" cy="91440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  Needs attention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391156"/>
            <a:ext cx="91440" cy="91440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454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62  No data returned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294436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1EFF8"/>
                </a:solidFill>
                <a:latin typeface="Arial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Sensors in fleet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returned by the appliance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407408"/>
            <a:ext cx="566927" cy="0"/>
          </a:xfrm>
          <a:prstGeom prst="line">
            <a:avLst/>
          </a:prstGeom>
          <a:ln w="25400">
            <a:solidFill>
              <a:srgbClr val="F1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38144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1EFF8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Reporting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18% of the fleet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38144" y="4407408"/>
            <a:ext cx="566928" cy="0"/>
          </a:xfrm>
          <a:prstGeom prst="line">
            <a:avLst/>
          </a:prstGeom>
          <a:ln w="25400">
            <a:solidFill>
              <a:srgbClr val="F1EF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6208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E78A6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At or over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advanced analysis tier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4407408"/>
            <a:ext cx="566928" cy="0"/>
          </a:xfrm>
          <a:prstGeom prst="line">
            <a:avLst/>
          </a:prstGeom>
          <a:ln w="25400">
            <a:solidFill>
              <a:srgbClr val="CE7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034272" y="321868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E78A6"/>
                </a:solidFill>
                <a:latin typeface="Arial"/>
              </a:rPr>
              <a:t>1.4M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Trigger drops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4272" y="409651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85AB"/>
                </a:solidFill>
                <a:latin typeface="Arial"/>
              </a:rPr>
              <a:t>total across the window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34272" y="4407408"/>
            <a:ext cx="566927" cy="0"/>
          </a:xfrm>
          <a:prstGeom prst="line">
            <a:avLst/>
          </a:prstGeom>
          <a:ln w="25400">
            <a:solidFill>
              <a:srgbClr val="CE7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" y="4828032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504748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8B85AB"/>
                </a:solidFill>
                <a:latin typeface="Arial"/>
              </a:rPr>
              <a:t>FLEET COMPOSITION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21808"/>
            <a:ext cx="2039112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539496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EDA1100V_TRACE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×48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07208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8376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IDS1280V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4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×15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44568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EDA1100V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79592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EFC1290V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15783" y="5321808"/>
            <a:ext cx="1408176" cy="310896"/>
          </a:xfrm>
          <a:prstGeom prst="roundRect">
            <a:avLst>
              <a:gd name="adj" fmla="val 50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6952" y="53949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6C1DC"/>
                </a:solidFill>
                <a:latin typeface="Arial"/>
              </a:rPr>
              <a:t>EFC1291V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539496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88736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5AB"/>
                </a:solidFill>
                <a:latin typeface="Arial"/>
              </a:rPr>
              <a:t>Counts reflect sensors that returned data. Unavailable statistics are held as missing rather than zero; per-sensor collection status is in the appendix.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CE78A6"/>
                </a:solidFill>
                <a:latin typeface="Arial"/>
              </a:rPr>
              <a:t>4 SENSORS · 2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Sensors that need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Ranked by severity · grouped by condition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3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59" y="157276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572768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72768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572768"/>
            <a:ext cx="4251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140">
                <a:solidFill>
                  <a:srgbClr val="8B85AB"/>
                </a:solidFill>
                <a:latin typeface="Arial"/>
              </a:rPr>
              <a:t>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1792224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59" y="19202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CE78A6"/>
                </a:solidFill>
                <a:latin typeface="Arial"/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39696"/>
            <a:ext cx="10911535" cy="530352"/>
          </a:xfrm>
          <a:prstGeom prst="rect">
            <a:avLst/>
          </a:prstGeom>
          <a:solidFill>
            <a:srgbClr val="1B183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139696"/>
            <a:ext cx="50292" cy="530352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139696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robertb-gcp-lab1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139696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EDA1100V_TRACE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139696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E78A6"/>
                </a:solidFill>
                <a:latin typeface="Arial"/>
              </a:rPr>
              <a:t>Advanced analysis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39696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250 / 250 devices · 6 more waiting in Discovery · 361,605 trigger drops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70048"/>
            <a:ext cx="50292" cy="530352"/>
          </a:xfrm>
          <a:prstGeom prst="rect">
            <a:avLst/>
          </a:prstGeom>
          <a:solidFill>
            <a:srgbClr val="CE78A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26700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robertb-sensor-3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6700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EDA1100V_TRACE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6700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E78A6"/>
                </a:solidFill>
                <a:latin typeface="Arial"/>
              </a:rPr>
              <a:t>Trigger drops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700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800,133 drops · trigger load peaked at 45% of available cycles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6499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40">
                <a:solidFill>
                  <a:srgbClr val="C1996B"/>
                </a:solidFill>
                <a:latin typeface="Arial"/>
              </a:rPr>
              <a:t>WARNING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584448"/>
            <a:ext cx="10911535" cy="530352"/>
          </a:xfrm>
          <a:prstGeom prst="rect">
            <a:avLst/>
          </a:prstGeom>
          <a:solidFill>
            <a:srgbClr val="1B183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584448"/>
            <a:ext cx="50292" cy="530352"/>
          </a:xfrm>
          <a:prstGeom prst="rect">
            <a:avLst/>
          </a:prstGeom>
          <a:solidFill>
            <a:srgbClr val="C199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584448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eda.Pai.CyberRange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358444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0912" y="3584448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1996B"/>
                </a:solidFill>
                <a:latin typeface="Arial"/>
              </a:rPr>
              <a:t>Trigger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84448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265,282 drops · trigger load peaked at 4% of available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14800"/>
            <a:ext cx="50292" cy="530352"/>
          </a:xfrm>
          <a:prstGeom prst="rect">
            <a:avLst/>
          </a:prstGeom>
          <a:solidFill>
            <a:srgbClr val="C1996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4114800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1EFF8"/>
                </a:solidFill>
                <a:latin typeface="Arial"/>
              </a:rPr>
              <a:t>SE-O365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114800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EDA1100V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4114800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1996B"/>
                </a:solidFill>
                <a:latin typeface="Arial"/>
              </a:rPr>
              <a:t>Stale synchronization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14800"/>
            <a:ext cx="42976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6C1DC"/>
                </a:solidFill>
                <a:latin typeface="Arial"/>
              </a:rPr>
              <a:t>Last synchronized 15 Jan 2026 · 191 days ago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82896"/>
            <a:ext cx="10911535" cy="768096"/>
          </a:xfrm>
          <a:prstGeom prst="roundRect">
            <a:avLst>
              <a:gd name="adj" fmla="val 16000"/>
            </a:avLst>
          </a:prstGeom>
          <a:solidFill>
            <a:srgbClr val="1B1836"/>
          </a:solidFill>
          <a:ln w="9525">
            <a:solidFill>
              <a:srgbClr val="2E2851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882896"/>
            <a:ext cx="50292" cy="768096"/>
          </a:xfrm>
          <a:prstGeom prst="rect">
            <a:avLst/>
          </a:prstGeom>
          <a:solidFill>
            <a:srgbClr val="645C8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020056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1EFF8"/>
                </a:solidFill>
                <a:latin typeface="Arial"/>
              </a:rPr>
              <a:t>62 sensors returned no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5294376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B85AB"/>
                </a:solidFill>
                <a:latin typeface="Arial"/>
              </a:rPr>
              <a:t>61 unreachable · 1 requires additional configuration. No utilization conclusions are drawn for these sensors.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148072"/>
            <a:ext cx="2404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>
                <a:solidFill>
                  <a:srgbClr val="8B85AB"/>
                </a:solidFill>
                <a:latin typeface="Arial"/>
              </a:rPr>
              <a:t>Full list in 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28271" cy="6894576"/>
          </a:xfrm>
          <a:prstGeom prst="rect">
            <a:avLst/>
          </a:prstGeom>
          <a:solidFill>
            <a:srgbClr val="13112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60">
                <a:solidFill>
                  <a:srgbClr val="8B85AB"/>
                </a:solidFill>
                <a:latin typeface="Arial"/>
              </a:rPr>
              <a:t>CAPACITY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1EFF8"/>
                </a:solidFill>
                <a:latin typeface="Arial"/>
              </a:rPr>
              <a:t>Packet rate headroom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8B85AB"/>
                </a:solidFill>
                <a:latin typeface="Arial"/>
              </a:rPr>
              <a:t>Peak 1-hour average against model capacity · EDA1100V_TRACE · rated 140K p/s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190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50138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B85AB"/>
                </a:solidFill>
                <a:latin typeface="Arial"/>
              </a:rPr>
              <a:t>ExtraHop  ·  System Health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5013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B85AB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e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6455664"/>
            <a:ext cx="914400" cy="89916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8183880" y="1682495"/>
            <a:ext cx="0" cy="4096513"/>
          </a:xfrm>
          <a:prstGeom prst="line">
            <a:avLst/>
          </a:prstGeom>
          <a:ln w="9525">
            <a:solidFill>
              <a:srgbClr val="C199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818120" y="148132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spc="100">
                <a:solidFill>
                  <a:srgbClr val="C1996B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1481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spc="100">
                <a:solidFill>
                  <a:srgbClr val="8B85AB"/>
                </a:solidFill>
                <a:latin typeface="Arial"/>
              </a:rPr>
              <a:t>MODEL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765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robertb-gcp-lab1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796795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1796795"/>
            <a:ext cx="1344168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178765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1863" y="178765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29K p/s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899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robertb-sensor-3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9132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63240" y="2199132"/>
            <a:ext cx="288036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18998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41863" y="218998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6.3K p/s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9232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7_22_26_SalkeId_Ultra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01468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2601468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59232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1863" y="259232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712 p/s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99466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eda.Casillas3.us-east-2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003803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3003803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19" y="299466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3" y="299466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238 p/s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39699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eda.Pankaj-New-CR.ap-southeas…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406139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3240" y="3406139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39699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41863" y="33969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215 p/s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799331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ariel-aws-ultra-eda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3808476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63240" y="3808476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3799331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1863" y="3799331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120 p/s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20166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eda.natejohnson.us-east-2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210812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63240" y="4210812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19" y="4201668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3" y="420166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116 p/s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04004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ArielSmi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4613148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63240" y="4613148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19" y="4604004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41863" y="460400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107 p/s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006340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AWS-SE360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5015484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63240" y="5015484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46919" y="5006340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3" y="50063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63 p/s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08676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6C1DC"/>
                </a:solidFill>
                <a:latin typeface="Arial"/>
              </a:rPr>
              <a:t>eda.jasonj-360-range-2026.us-…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5417820"/>
            <a:ext cx="6400800" cy="219456"/>
          </a:xfrm>
          <a:prstGeom prst="rect">
            <a:avLst/>
          </a:prstGeom>
          <a:solidFill>
            <a:srgbClr val="241F4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63240" y="5417820"/>
            <a:ext cx="32004" cy="219456"/>
          </a:xfrm>
          <a:prstGeom prst="rect">
            <a:avLst/>
          </a:prstGeom>
          <a:solidFill>
            <a:srgbClr val="4FA9D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46919" y="5408676"/>
            <a:ext cx="6035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1EFF8"/>
                </a:solidFill>
                <a:latin typeface="Arial"/>
              </a:rPr>
              <a:t>&lt;1%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41863" y="540867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12 p/s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40080" y="5961888"/>
            <a:ext cx="10911535" cy="0"/>
          </a:xfrm>
          <a:prstGeom prst="line">
            <a:avLst/>
          </a:prstGeom>
          <a:ln w="9525">
            <a:solidFill>
              <a:srgbClr val="2E2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0080" y="6089904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B85AB"/>
                </a:solidFill>
                <a:latin typeface="Arial"/>
              </a:rPr>
              <a:t>10 of 48 EDA1100V_TRACE sensors reported packet data · 38 returned no data and are excluded rather than shown as zero.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6089904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B85AB"/>
                </a:solidFill>
                <a:latin typeface="Arial"/>
              </a:rPr>
              <a:t>Sorted by percent of model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