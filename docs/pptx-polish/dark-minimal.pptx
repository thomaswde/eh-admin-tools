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" y="-18288"/>
            <a:ext cx="12228271" cy="6894576"/>
          </a:xfrm>
          <a:prstGeom prst="rect">
            <a:avLst/>
          </a:prstGeom>
        </p:spPr>
      </p:pic>
      <p:pic>
        <p:nvPicPr>
          <p:cNvPr id="3" name="Picture 2" descr="eh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603504"/>
            <a:ext cx="1783080" cy="17533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-1188720" y="2231136"/>
            <a:ext cx="8366760" cy="1883664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2542032"/>
            <a:ext cx="6766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System Health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255264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AED43"/>
                </a:solidFill>
                <a:latin typeface="Arial"/>
              </a:rPr>
              <a:t>ExtraHop SE Organization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4672" y="5577840"/>
            <a:ext cx="38404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04672" y="574243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FFFFFF"/>
                </a:solidFill>
                <a:latin typeface="Arial"/>
              </a:rPr>
              <a:t>REPORT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9618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Last 7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1" y="574243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FFFFFF"/>
                </a:solidFill>
                <a:latin typeface="Arial"/>
              </a:rPr>
              <a:t>PREPARED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1" y="59618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Thomas Smith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8112" y="574243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FFFFFF"/>
                </a:solidFill>
                <a:latin typeface="Arial"/>
              </a:rPr>
              <a:t>GENERATED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59618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25 Jul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271" cy="6894576"/>
          </a:xfrm>
          <a:prstGeom prst="rect">
            <a:avLst/>
          </a:prstGeom>
          <a:solidFill>
            <a:srgbClr val="13112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1EFF8"/>
                </a:solidFill>
                <a:latin typeface="Arial"/>
              </a:rPr>
              <a:t>Fleet health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B85AB"/>
                </a:solidFill>
                <a:latin typeface="Arial"/>
              </a:rPr>
              <a:t>78 sensors · Last 7 days · Peak 1-hour averages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9525">
            <a:solidFill>
              <a:srgbClr val="2E2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0138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B85AB"/>
                </a:solidFill>
                <a:latin typeface="Arial"/>
              </a:rPr>
              <a:t>ExtraHop  ·  System Health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0138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B85AB"/>
                </a:solidFill>
                <a:latin typeface="Arial"/>
              </a:rPr>
              <a:t>2</a:t>
            </a:r>
          </a:p>
        </p:txBody>
      </p:sp>
      <p:pic>
        <p:nvPicPr>
          <p:cNvPr id="8" name="Picture 7" descr="e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6455664"/>
            <a:ext cx="914400" cy="899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38988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F1EFF8"/>
                </a:solidFill>
                <a:latin typeface="Arial"/>
              </a:rPr>
              <a:t>62 of 78 sensors returned no data. Capacity is not the constraint — reachability 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38528"/>
            <a:ext cx="1926476" cy="31089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8560" y="1938528"/>
            <a:ext cx="247778" cy="310896"/>
          </a:xfrm>
          <a:prstGeom prst="rect">
            <a:avLst/>
          </a:prstGeom>
          <a:solidFill>
            <a:srgbClr val="CE78A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78343" y="1938528"/>
            <a:ext cx="8641267" cy="310896"/>
          </a:xfrm>
          <a:prstGeom prst="rect">
            <a:avLst/>
          </a:prstGeom>
          <a:solidFill>
            <a:srgbClr val="645C8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391156"/>
            <a:ext cx="91440" cy="91440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34543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6C1DC"/>
                </a:solidFill>
                <a:latin typeface="Arial"/>
              </a:rPr>
              <a:t>14  Reporting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2391156"/>
            <a:ext cx="91440" cy="91440"/>
          </a:xfrm>
          <a:prstGeom prst="rect">
            <a:avLst/>
          </a:prstGeom>
          <a:solidFill>
            <a:srgbClr val="CE78A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34543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6C1DC"/>
                </a:solidFill>
                <a:latin typeface="Arial"/>
              </a:rPr>
              <a:t>2  Needs attention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2391156"/>
            <a:ext cx="91440" cy="91440"/>
          </a:xfrm>
          <a:prstGeom prst="rect">
            <a:avLst/>
          </a:prstGeom>
          <a:solidFill>
            <a:srgbClr val="645C8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234543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6C1DC"/>
                </a:solidFill>
                <a:latin typeface="Arial"/>
              </a:rPr>
              <a:t>62  No data returned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2944368"/>
            <a:ext cx="10911535" cy="0"/>
          </a:xfrm>
          <a:prstGeom prst="line">
            <a:avLst/>
          </a:prstGeom>
          <a:ln w="9525">
            <a:solidFill>
              <a:srgbClr val="2E2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321868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1EFF8"/>
                </a:solidFill>
                <a:latin typeface="Arial"/>
              </a:rPr>
              <a:t>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58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1EFF8"/>
                </a:solidFill>
                <a:latin typeface="Arial"/>
              </a:rPr>
              <a:t>Sensors in fleet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965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85AB"/>
                </a:solidFill>
                <a:latin typeface="Arial"/>
              </a:rPr>
              <a:t>returned by the appliance API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4407408"/>
            <a:ext cx="566927" cy="0"/>
          </a:xfrm>
          <a:prstGeom prst="line">
            <a:avLst/>
          </a:prstGeom>
          <a:ln w="25400">
            <a:solidFill>
              <a:srgbClr val="F1EF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38144" y="321868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1EFF8"/>
                </a:solidFill>
                <a:latin typeface="Arial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8144" y="3858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1EFF8"/>
                </a:solidFill>
                <a:latin typeface="Arial"/>
              </a:rPr>
              <a:t>Reporting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8144" y="40965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85AB"/>
                </a:solidFill>
                <a:latin typeface="Arial"/>
              </a:rPr>
              <a:t>18% of the fleet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438144" y="4407408"/>
            <a:ext cx="566928" cy="0"/>
          </a:xfrm>
          <a:prstGeom prst="line">
            <a:avLst/>
          </a:prstGeom>
          <a:ln w="25400">
            <a:solidFill>
              <a:srgbClr val="F1EF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36208" y="321868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CE78A6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3858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1EFF8"/>
                </a:solidFill>
                <a:latin typeface="Arial"/>
              </a:rPr>
              <a:t>At or over capacity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40965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85AB"/>
                </a:solidFill>
                <a:latin typeface="Arial"/>
              </a:rPr>
              <a:t>advanced analysis tier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236208" y="4407408"/>
            <a:ext cx="566928" cy="0"/>
          </a:xfrm>
          <a:prstGeom prst="line">
            <a:avLst/>
          </a:prstGeom>
          <a:ln w="25400">
            <a:solidFill>
              <a:srgbClr val="CE7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034272" y="321868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CE78A6"/>
                </a:solidFill>
                <a:latin typeface="Arial"/>
              </a:rPr>
              <a:t>1.4M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4272" y="3858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1EFF8"/>
                </a:solidFill>
                <a:latin typeface="Arial"/>
              </a:rPr>
              <a:t>Trigger drops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4272" y="40965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85AB"/>
                </a:solidFill>
                <a:latin typeface="Arial"/>
              </a:rPr>
              <a:t>total across the window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034272" y="4407408"/>
            <a:ext cx="566927" cy="0"/>
          </a:xfrm>
          <a:prstGeom prst="line">
            <a:avLst/>
          </a:prstGeom>
          <a:ln w="25400">
            <a:solidFill>
              <a:srgbClr val="CE7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40080" y="4828032"/>
            <a:ext cx="10911535" cy="0"/>
          </a:xfrm>
          <a:prstGeom prst="line">
            <a:avLst/>
          </a:prstGeom>
          <a:ln w="9525">
            <a:solidFill>
              <a:srgbClr val="2E2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" y="504748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50">
                <a:solidFill>
                  <a:srgbClr val="8B85AB"/>
                </a:solidFill>
                <a:latin typeface="Arial"/>
              </a:rPr>
              <a:t>FLEET COMPOSITION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321808"/>
            <a:ext cx="2039112" cy="310896"/>
          </a:xfrm>
          <a:prstGeom prst="roundRect">
            <a:avLst>
              <a:gd name="adj" fmla="val 50000"/>
            </a:avLst>
          </a:prstGeom>
          <a:solidFill>
            <a:srgbClr val="1B1836"/>
          </a:solidFill>
          <a:ln w="9525">
            <a:solidFill>
              <a:srgbClr val="2E2851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5394960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6C1DC"/>
                </a:solidFill>
                <a:latin typeface="Arial"/>
              </a:rPr>
              <a:t>EDA1100V_TRACE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76272" y="539496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×48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07208" y="5321808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1B1836"/>
          </a:solidFill>
          <a:ln w="9525">
            <a:solidFill>
              <a:srgbClr val="2E2851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08376" y="53949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6C1DC"/>
                </a:solidFill>
                <a:latin typeface="Arial"/>
              </a:rPr>
              <a:t>IDS1280V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12464" y="539496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×15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5321808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1B1836"/>
          </a:solidFill>
          <a:ln w="9525">
            <a:solidFill>
              <a:srgbClr val="2E2851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44568" y="53949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6C1DC"/>
                </a:solidFill>
                <a:latin typeface="Arial"/>
              </a:rPr>
              <a:t>EDA1100V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48656" y="539496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×9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79592" y="5321808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1B1836"/>
          </a:solidFill>
          <a:ln w="9525">
            <a:solidFill>
              <a:srgbClr val="2E2851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59" y="53949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6C1DC"/>
                </a:solidFill>
                <a:latin typeface="Arial"/>
              </a:rPr>
              <a:t>EFC1290V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84848" y="539496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×3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15783" y="5321808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1B1836"/>
          </a:solidFill>
          <a:ln w="9525">
            <a:solidFill>
              <a:srgbClr val="2E2851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16952" y="53949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6C1DC"/>
                </a:solidFill>
                <a:latin typeface="Arial"/>
              </a:rPr>
              <a:t>EFC1291V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39" y="539496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×3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88873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5AB"/>
                </a:solidFill>
                <a:latin typeface="Arial"/>
              </a:rPr>
              <a:t>Counts reflect sensors that returned data. Unavailable statistics are held as missing rather than zero; per-sensor collection status is in the appendix.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271" cy="6894576"/>
          </a:xfrm>
          <a:prstGeom prst="rect">
            <a:avLst/>
          </a:prstGeom>
          <a:solidFill>
            <a:srgbClr val="13112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60">
                <a:solidFill>
                  <a:srgbClr val="CE78A6"/>
                </a:solidFill>
                <a:latin typeface="Arial"/>
              </a:rPr>
              <a:t>4 SENSORS · 2 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1EFF8"/>
                </a:solidFill>
                <a:latin typeface="Arial"/>
              </a:rPr>
              <a:t>Sensors that need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B85AB"/>
                </a:solidFill>
                <a:latin typeface="Arial"/>
              </a:rPr>
              <a:t>Ranked by severity · grouped by condition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9525">
            <a:solidFill>
              <a:srgbClr val="2E2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0138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B85AB"/>
                </a:solidFill>
                <a:latin typeface="Arial"/>
              </a:rPr>
              <a:t>ExtraHop  ·  System Health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0138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B85AB"/>
                </a:solidFill>
                <a:latin typeface="Arial"/>
              </a:rPr>
              <a:t>3</a:t>
            </a:r>
          </a:p>
        </p:txBody>
      </p:sp>
      <p:pic>
        <p:nvPicPr>
          <p:cNvPr id="9" name="Picture 8" descr="e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6455664"/>
            <a:ext cx="914400" cy="899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59" y="1572768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8B85AB"/>
                </a:solidFill>
                <a:latin typeface="Arial"/>
              </a:rPr>
              <a:t>SENSOR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572768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8B85AB"/>
                </a:solidFill>
                <a:latin typeface="Arial"/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1572768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8B85AB"/>
                </a:solidFill>
                <a:latin typeface="Arial"/>
              </a:rPr>
              <a:t>CONDITION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572768"/>
            <a:ext cx="4251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8B85AB"/>
                </a:solidFill>
                <a:latin typeface="Arial"/>
              </a:rPr>
              <a:t>EVIDENCE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1792224"/>
            <a:ext cx="10911535" cy="0"/>
          </a:xfrm>
          <a:prstGeom prst="line">
            <a:avLst/>
          </a:prstGeom>
          <a:ln w="9525">
            <a:solidFill>
              <a:srgbClr val="2E2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59" y="192024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CE78A6"/>
                </a:solidFill>
                <a:latin typeface="Arial"/>
              </a:rPr>
              <a:t>CRITICAL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39696"/>
            <a:ext cx="10911535" cy="530352"/>
          </a:xfrm>
          <a:prstGeom prst="rect">
            <a:avLst/>
          </a:prstGeom>
          <a:solidFill>
            <a:srgbClr val="1B183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139696"/>
            <a:ext cx="50292" cy="530352"/>
          </a:xfrm>
          <a:prstGeom prst="rect">
            <a:avLst/>
          </a:prstGeom>
          <a:solidFill>
            <a:srgbClr val="CE78A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139696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1EFF8"/>
                </a:solidFill>
                <a:latin typeface="Arial"/>
              </a:rPr>
              <a:t>robertb-gcp-lab1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139696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B85AB"/>
                </a:solidFill>
                <a:latin typeface="Arial"/>
              </a:rPr>
              <a:t>EDA1100V_TRACE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139696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CE78A6"/>
                </a:solidFill>
                <a:latin typeface="Arial"/>
              </a:rPr>
              <a:t>Advanced analysis full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139696"/>
            <a:ext cx="4297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6C1DC"/>
                </a:solidFill>
                <a:latin typeface="Arial"/>
              </a:rPr>
              <a:t>250 / 250 devices · 6 more waiting in Discovery · 361,605 trigger drops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670048"/>
            <a:ext cx="50292" cy="530352"/>
          </a:xfrm>
          <a:prstGeom prst="rect">
            <a:avLst/>
          </a:prstGeom>
          <a:solidFill>
            <a:srgbClr val="CE78A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2670048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1EFF8"/>
                </a:solidFill>
                <a:latin typeface="Arial"/>
              </a:rPr>
              <a:t>robertb-sensor-3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2670048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B85AB"/>
                </a:solidFill>
                <a:latin typeface="Arial"/>
              </a:rPr>
              <a:t>EDA1100V_TRACE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2670048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CE78A6"/>
                </a:solidFill>
                <a:latin typeface="Arial"/>
              </a:rPr>
              <a:t>Trigger drops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670048"/>
            <a:ext cx="4297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6C1DC"/>
                </a:solidFill>
                <a:latin typeface="Arial"/>
              </a:rPr>
              <a:t>800,133 drops · trigger load peaked at 45% of available cycles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3649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A9A2C6"/>
                </a:solidFill>
                <a:latin typeface="Arial"/>
              </a:rPr>
              <a:t>WARNING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584448"/>
            <a:ext cx="10911535" cy="530352"/>
          </a:xfrm>
          <a:prstGeom prst="rect">
            <a:avLst/>
          </a:prstGeom>
          <a:solidFill>
            <a:srgbClr val="1B183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584448"/>
            <a:ext cx="50292" cy="530352"/>
          </a:xfrm>
          <a:prstGeom prst="rect">
            <a:avLst/>
          </a:prstGeom>
          <a:solidFill>
            <a:srgbClr val="A9A2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3584448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1EFF8"/>
                </a:solidFill>
                <a:latin typeface="Arial"/>
              </a:rPr>
              <a:t>eda.Pai.CyberRange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8" y="3584448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B85AB"/>
                </a:solidFill>
                <a:latin typeface="Arial"/>
              </a:rPr>
              <a:t>EDA1100V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0912" y="3584448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A9A2C6"/>
                </a:solidFill>
                <a:latin typeface="Arial"/>
              </a:rPr>
              <a:t>Trigger drops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3584448"/>
            <a:ext cx="4297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6C1DC"/>
                </a:solidFill>
                <a:latin typeface="Arial"/>
              </a:rPr>
              <a:t>265,282 drops · trigger load peaked at 4% of available cycles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114800"/>
            <a:ext cx="50292" cy="530352"/>
          </a:xfrm>
          <a:prstGeom prst="rect">
            <a:avLst/>
          </a:prstGeom>
          <a:solidFill>
            <a:srgbClr val="A9A2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4114800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1EFF8"/>
                </a:solidFill>
                <a:latin typeface="Arial"/>
              </a:rPr>
              <a:t>SE-O365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0128" y="4114800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B85AB"/>
                </a:solidFill>
                <a:latin typeface="Arial"/>
              </a:rPr>
              <a:t>EDA1100V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4114800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A9A2C6"/>
                </a:solidFill>
                <a:latin typeface="Arial"/>
              </a:rPr>
              <a:t>Stale synchronization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114800"/>
            <a:ext cx="4297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6C1DC"/>
                </a:solidFill>
                <a:latin typeface="Arial"/>
              </a:rPr>
              <a:t>Last synchronized 15 Jan 2026 · 191 days ago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882896"/>
            <a:ext cx="10911535" cy="768096"/>
          </a:xfrm>
          <a:prstGeom prst="roundRect">
            <a:avLst>
              <a:gd name="adj" fmla="val 16000"/>
            </a:avLst>
          </a:prstGeom>
          <a:solidFill>
            <a:srgbClr val="1B1836"/>
          </a:solidFill>
          <a:ln w="9525">
            <a:solidFill>
              <a:srgbClr val="2E2851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4882896"/>
            <a:ext cx="50292" cy="768096"/>
          </a:xfrm>
          <a:prstGeom prst="rect">
            <a:avLst/>
          </a:prstGeom>
          <a:solidFill>
            <a:srgbClr val="645C8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" y="502005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1EFF8"/>
                </a:solidFill>
                <a:latin typeface="Arial"/>
              </a:rPr>
              <a:t>62 sensors returned no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" y="5294376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B85AB"/>
                </a:solidFill>
                <a:latin typeface="Arial"/>
              </a:rPr>
              <a:t>61 unreachable · 1 requires additional configuration. No utilization conclusions are drawn for these sensors.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5148072"/>
            <a:ext cx="2404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8B85AB"/>
                </a:solidFill>
                <a:latin typeface="Arial"/>
              </a:rPr>
              <a:t>Full list in appendix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271" cy="6894576"/>
          </a:xfrm>
          <a:prstGeom prst="rect">
            <a:avLst/>
          </a:prstGeom>
          <a:solidFill>
            <a:srgbClr val="13112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60">
                <a:solidFill>
                  <a:srgbClr val="8B85AB"/>
                </a:solidFill>
                <a:latin typeface="Arial"/>
              </a:rPr>
              <a:t>CAPACITY ·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1EFF8"/>
                </a:solidFill>
                <a:latin typeface="Arial"/>
              </a:rPr>
              <a:t>Packet rate headroom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B85AB"/>
                </a:solidFill>
                <a:latin typeface="Arial"/>
              </a:rPr>
              <a:t>Peak 1-hour average against model capacity · EDA1100V_TRACE · rated 140K p/s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9525">
            <a:solidFill>
              <a:srgbClr val="2E2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0138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B85AB"/>
                </a:solidFill>
                <a:latin typeface="Arial"/>
              </a:rPr>
              <a:t>ExtraHop  ·  System Health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0138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B85AB"/>
                </a:solidFill>
                <a:latin typeface="Arial"/>
              </a:rPr>
              <a:t>4</a:t>
            </a:r>
          </a:p>
        </p:txBody>
      </p:sp>
      <p:pic>
        <p:nvPicPr>
          <p:cNvPr id="9" name="Picture 8" descr="e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6455664"/>
            <a:ext cx="914400" cy="89916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8183880" y="1682495"/>
            <a:ext cx="0" cy="4096513"/>
          </a:xfrm>
          <a:prstGeom prst="line">
            <a:avLst/>
          </a:prstGeom>
          <a:ln w="9525">
            <a:solidFill>
              <a:srgbClr val="A9A2C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818120" y="148132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spc="100">
                <a:solidFill>
                  <a:srgbClr val="A9A2C6"/>
                </a:solidFill>
                <a:latin typeface="Arial"/>
              </a:rP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19" y="1481328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spc="100">
                <a:solidFill>
                  <a:srgbClr val="8B85AB"/>
                </a:solidFill>
                <a:latin typeface="Arial"/>
              </a:rPr>
              <a:t>MODEL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87651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6C1DC"/>
                </a:solidFill>
                <a:latin typeface="Arial"/>
              </a:rPr>
              <a:t>robertb-gcp-lab1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1796795"/>
            <a:ext cx="6400800" cy="219456"/>
          </a:xfrm>
          <a:prstGeom prst="rect">
            <a:avLst/>
          </a:prstGeom>
          <a:solidFill>
            <a:srgbClr val="241F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796795"/>
            <a:ext cx="1344168" cy="21945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19" y="1787651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21%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41863" y="1787651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29K p/s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89988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6C1DC"/>
                </a:solidFill>
                <a:latin typeface="Arial"/>
              </a:rPr>
              <a:t>robertb-sensor-3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2199132"/>
            <a:ext cx="6400800" cy="219456"/>
          </a:xfrm>
          <a:prstGeom prst="rect">
            <a:avLst/>
          </a:prstGeom>
          <a:solidFill>
            <a:srgbClr val="241F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63240" y="2199132"/>
            <a:ext cx="288036" cy="21945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19" y="2189988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41863" y="2189988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6.3K p/s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592324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6C1DC"/>
                </a:solidFill>
                <a:latin typeface="Arial"/>
              </a:rPr>
              <a:t>7_22_26_SalkeId_Ultra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2601468"/>
            <a:ext cx="6400800" cy="219456"/>
          </a:xfrm>
          <a:prstGeom prst="rect">
            <a:avLst/>
          </a:prstGeom>
          <a:solidFill>
            <a:srgbClr val="241F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63240" y="2601468"/>
            <a:ext cx="32004" cy="21945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19" y="2592324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&lt;1%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41863" y="2592324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712 p/s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994660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6C1DC"/>
                </a:solidFill>
                <a:latin typeface="Arial"/>
              </a:rPr>
              <a:t>eda.Casillas3.us-east-2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40" y="3003803"/>
            <a:ext cx="6400800" cy="219456"/>
          </a:xfrm>
          <a:prstGeom prst="rect">
            <a:avLst/>
          </a:prstGeom>
          <a:solidFill>
            <a:srgbClr val="241F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63240" y="3003803"/>
            <a:ext cx="32004" cy="21945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19" y="2994660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&lt;1%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41863" y="2994660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238 p/s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396996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6C1DC"/>
                </a:solidFill>
                <a:latin typeface="Arial"/>
              </a:rPr>
              <a:t>eda.Pankaj-New-CR.ap-southeas…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63240" y="3406139"/>
            <a:ext cx="6400800" cy="219456"/>
          </a:xfrm>
          <a:prstGeom prst="rect">
            <a:avLst/>
          </a:prstGeom>
          <a:solidFill>
            <a:srgbClr val="241F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63240" y="3406139"/>
            <a:ext cx="32004" cy="21945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19" y="3396996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&lt;1%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41863" y="3396996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215 p/s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799331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6C1DC"/>
                </a:solidFill>
                <a:latin typeface="Arial"/>
              </a:rPr>
              <a:t>ariel-aws-ultra-eda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3808476"/>
            <a:ext cx="6400800" cy="219456"/>
          </a:xfrm>
          <a:prstGeom prst="rect">
            <a:avLst/>
          </a:prstGeom>
          <a:solidFill>
            <a:srgbClr val="241F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063240" y="3808476"/>
            <a:ext cx="32004" cy="21945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46919" y="3799331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&lt;1%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41863" y="3799331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120 p/s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201668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6C1DC"/>
                </a:solidFill>
                <a:latin typeface="Arial"/>
              </a:rPr>
              <a:t>eda.natejohnson.us-east-2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63240" y="4210812"/>
            <a:ext cx="6400800" cy="219456"/>
          </a:xfrm>
          <a:prstGeom prst="rect">
            <a:avLst/>
          </a:prstGeom>
          <a:solidFill>
            <a:srgbClr val="241F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63240" y="4210812"/>
            <a:ext cx="32004" cy="21945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46919" y="4201668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&lt;1%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41863" y="4201668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116 p/s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4604004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6C1DC"/>
                </a:solidFill>
                <a:latin typeface="Arial"/>
              </a:rPr>
              <a:t>ArielSmi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4613148"/>
            <a:ext cx="6400800" cy="219456"/>
          </a:xfrm>
          <a:prstGeom prst="rect">
            <a:avLst/>
          </a:prstGeom>
          <a:solidFill>
            <a:srgbClr val="241F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063240" y="4613148"/>
            <a:ext cx="32004" cy="21945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46919" y="4604004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&lt;1%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41863" y="4604004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107 p/s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006340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6C1DC"/>
                </a:solidFill>
                <a:latin typeface="Arial"/>
              </a:rPr>
              <a:t>AWS-SE360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63240" y="5015484"/>
            <a:ext cx="6400800" cy="219456"/>
          </a:xfrm>
          <a:prstGeom prst="rect">
            <a:avLst/>
          </a:prstGeom>
          <a:solidFill>
            <a:srgbClr val="241F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063240" y="5015484"/>
            <a:ext cx="32004" cy="21945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46919" y="5006340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&lt;1%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41863" y="5006340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63 p/s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408676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6C1DC"/>
                </a:solidFill>
                <a:latin typeface="Arial"/>
              </a:rPr>
              <a:t>eda.jasonj-360-range-2026.us-…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63240" y="5417820"/>
            <a:ext cx="6400800" cy="219456"/>
          </a:xfrm>
          <a:prstGeom prst="rect">
            <a:avLst/>
          </a:prstGeom>
          <a:solidFill>
            <a:srgbClr val="241F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063240" y="5417820"/>
            <a:ext cx="32004" cy="21945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46919" y="5408676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&lt;1%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41863" y="5408676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12 p/s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40080" y="5961888"/>
            <a:ext cx="10911535" cy="0"/>
          </a:xfrm>
          <a:prstGeom prst="line">
            <a:avLst/>
          </a:prstGeom>
          <a:ln w="9525">
            <a:solidFill>
              <a:srgbClr val="2E2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40080" y="6089904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5AB"/>
                </a:solidFill>
                <a:latin typeface="Arial"/>
              </a:rPr>
              <a:t>10 of 48 EDA1100V_TRACE sensors reported packet data · 38 returned no data and are excluded rather than shown as zero.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6089904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Sorted by percent of model capacity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