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-18288"/>
            <a:ext cx="12228271" cy="6894576"/>
          </a:xfrm>
          <a:prstGeom prst="rect">
            <a:avLst/>
          </a:prstGeom>
        </p:spPr>
      </p:pic>
      <p:pic>
        <p:nvPicPr>
          <p:cNvPr id="3" name="Picture 2" descr="eh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03504"/>
            <a:ext cx="1783080" cy="1753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1188720" y="2231136"/>
            <a:ext cx="8366760" cy="1883664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System Health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552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AED43"/>
                </a:solidFill>
                <a:latin typeface="Arial"/>
              </a:rPr>
              <a:t>ExtraHop SE Organization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4672" y="557784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REPORT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Last 7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1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1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Thomas Smith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25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61F63"/>
                </a:solidFill>
                <a:latin typeface="Arial"/>
              </a:rPr>
              <a:t>Fleet health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B7799"/>
                </a:solidFill>
                <a:latin typeface="Arial"/>
              </a:rPr>
              <a:t>78 sensors · Last 7 days · Peak 1-hour averages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E5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B7799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B7799"/>
                </a:solidFill>
                <a:latin typeface="Arial"/>
              </a:rPr>
              <a:t>2</a:t>
            </a:r>
          </a:p>
        </p:txBody>
      </p:sp>
      <p:pic>
        <p:nvPicPr>
          <p:cNvPr id="8" name="Picture 7" descr="eh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8988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61F63"/>
                </a:solidFill>
                <a:latin typeface="Arial"/>
              </a:rPr>
              <a:t>62 of 78 sensors returned no data. Capacity is not the constraint — reachability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1926476" cy="31089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8560" y="1938528"/>
            <a:ext cx="247778" cy="310896"/>
          </a:xfrm>
          <a:prstGeom prst="rect">
            <a:avLst/>
          </a:prstGeom>
          <a:solidFill>
            <a:srgbClr val="EC088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8343" y="1938528"/>
            <a:ext cx="8641267" cy="310896"/>
          </a:xfrm>
          <a:prstGeom prst="rect">
            <a:avLst/>
          </a:prstGeom>
          <a:solidFill>
            <a:srgbClr val="C3C1D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91156"/>
            <a:ext cx="91440" cy="91440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D3760"/>
                </a:solidFill>
                <a:latin typeface="Arial"/>
              </a:rPr>
              <a:t>14  Reporting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391156"/>
            <a:ext cx="91440" cy="91440"/>
          </a:xfrm>
          <a:prstGeom prst="rect">
            <a:avLst/>
          </a:prstGeom>
          <a:solidFill>
            <a:srgbClr val="EC088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D3760"/>
                </a:solidFill>
                <a:latin typeface="Arial"/>
              </a:rPr>
              <a:t>2  Needs attention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391156"/>
            <a:ext cx="91440" cy="91440"/>
          </a:xfrm>
          <a:prstGeom prst="rect">
            <a:avLst/>
          </a:prstGeom>
          <a:solidFill>
            <a:srgbClr val="C3C1D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D3760"/>
                </a:solidFill>
                <a:latin typeface="Arial"/>
              </a:rPr>
              <a:t>62  No data returned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2944368"/>
            <a:ext cx="10911535" cy="0"/>
          </a:xfrm>
          <a:prstGeom prst="line">
            <a:avLst/>
          </a:prstGeom>
          <a:ln w="9525">
            <a:solidFill>
              <a:srgbClr val="E5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61F63"/>
                </a:solidFill>
                <a:latin typeface="Arial"/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61F63"/>
                </a:solidFill>
                <a:latin typeface="Arial"/>
              </a:rPr>
              <a:t>Sensors in fleet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B7799"/>
                </a:solidFill>
                <a:latin typeface="Arial"/>
              </a:rPr>
              <a:t>returned by the appliance API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407408"/>
            <a:ext cx="566927" cy="0"/>
          </a:xfrm>
          <a:prstGeom prst="line">
            <a:avLst/>
          </a:prstGeom>
          <a:ln w="25400">
            <a:solidFill>
              <a:srgbClr val="26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38144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61F63"/>
                </a:solidFill>
                <a:latin typeface="Arial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61F63"/>
                </a:solidFill>
                <a:latin typeface="Arial"/>
              </a:rPr>
              <a:t>Reporting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B7799"/>
                </a:solidFill>
                <a:latin typeface="Arial"/>
              </a:rPr>
              <a:t>18% of the fleet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38144" y="4407408"/>
            <a:ext cx="566928" cy="0"/>
          </a:xfrm>
          <a:prstGeom prst="line">
            <a:avLst/>
          </a:prstGeom>
          <a:ln w="25400">
            <a:solidFill>
              <a:srgbClr val="26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6208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C0889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61F63"/>
                </a:solidFill>
                <a:latin typeface="Arial"/>
              </a:rPr>
              <a:t>At or over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B7799"/>
                </a:solidFill>
                <a:latin typeface="Arial"/>
              </a:rPr>
              <a:t>advanced analysis tier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36208" y="4407408"/>
            <a:ext cx="566928" cy="0"/>
          </a:xfrm>
          <a:prstGeom prst="line">
            <a:avLst/>
          </a:prstGeom>
          <a:ln w="25400">
            <a:solidFill>
              <a:srgbClr val="EC0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34272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C0889"/>
                </a:solidFill>
                <a:latin typeface="Arial"/>
              </a:rPr>
              <a:t>1.4M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61F63"/>
                </a:solidFill>
                <a:latin typeface="Arial"/>
              </a:rPr>
              <a:t>Trigger drops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B7799"/>
                </a:solidFill>
                <a:latin typeface="Arial"/>
              </a:rPr>
              <a:t>total across the window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34272" y="4407408"/>
            <a:ext cx="566927" cy="0"/>
          </a:xfrm>
          <a:prstGeom prst="line">
            <a:avLst/>
          </a:prstGeom>
          <a:ln w="25400">
            <a:solidFill>
              <a:srgbClr val="EC0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0080" y="4828032"/>
            <a:ext cx="10911535" cy="0"/>
          </a:xfrm>
          <a:prstGeom prst="line">
            <a:avLst/>
          </a:prstGeom>
          <a:ln w="9525">
            <a:solidFill>
              <a:srgbClr val="E5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504748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7B7799"/>
                </a:solidFill>
                <a:latin typeface="Arial"/>
              </a:rPr>
              <a:t>FLEET COMPOSITION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21808"/>
            <a:ext cx="2039112" cy="310896"/>
          </a:xfrm>
          <a:prstGeom prst="roundRect">
            <a:avLst>
              <a:gd name="adj" fmla="val 50000"/>
            </a:avLst>
          </a:prstGeom>
          <a:solidFill>
            <a:srgbClr val="F8F8FB"/>
          </a:solidFill>
          <a:ln w="9525">
            <a:solidFill>
              <a:srgbClr val="E5E4ED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39496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D3760"/>
                </a:solidFill>
                <a:latin typeface="Arial"/>
              </a:rPr>
              <a:t>EDA1100V_TRACE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6272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×48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07208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8F8FB"/>
          </a:solidFill>
          <a:ln w="9525">
            <a:solidFill>
              <a:srgbClr val="E5E4ED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08376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D3760"/>
                </a:solidFill>
                <a:latin typeface="Arial"/>
              </a:rPr>
              <a:t>IDS1280V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4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×15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8F8FB"/>
          </a:solidFill>
          <a:ln w="9525">
            <a:solidFill>
              <a:srgbClr val="E5E4ED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44568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D3760"/>
                </a:solidFill>
                <a:latin typeface="Arial"/>
              </a:rPr>
              <a:t>EDA1100V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6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×9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79592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8F8FB"/>
          </a:solidFill>
          <a:ln w="9525">
            <a:solidFill>
              <a:srgbClr val="E5E4ED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9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D3760"/>
                </a:solidFill>
                <a:latin typeface="Arial"/>
              </a:rPr>
              <a:t>EFC1290V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×3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15783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F8F8FB"/>
          </a:solidFill>
          <a:ln w="9525">
            <a:solidFill>
              <a:srgbClr val="E5E4ED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6952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D3760"/>
                </a:solidFill>
                <a:latin typeface="Arial"/>
              </a:rPr>
              <a:t>EFC1291V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9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×3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8873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B7799"/>
                </a:solidFill>
                <a:latin typeface="Arial"/>
              </a:rPr>
              <a:t>Counts reflect sensors that returned data. Unavailable statistics are held as missing rather than zero; per-sensor collection status is in the appendix.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EC0889"/>
                </a:solidFill>
                <a:latin typeface="Arial"/>
              </a:rPr>
              <a:t>4 SENSORS · 2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61F63"/>
                </a:solidFill>
                <a:latin typeface="Arial"/>
              </a:rPr>
              <a:t>Sensors that need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B7799"/>
                </a:solidFill>
                <a:latin typeface="Arial"/>
              </a:rPr>
              <a:t>Ranked by severity · grouped by condition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E5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B7799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B7799"/>
                </a:solidFill>
                <a:latin typeface="Arial"/>
              </a:rPr>
              <a:t>3</a:t>
            </a:r>
          </a:p>
        </p:txBody>
      </p:sp>
      <p:pic>
        <p:nvPicPr>
          <p:cNvPr id="9" name="Picture 8" descr="eh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59" y="157276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7B7799"/>
                </a:solidFill>
                <a:latin typeface="Arial"/>
              </a:rPr>
              <a:t>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57276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7B7799"/>
                </a:solidFill>
                <a:latin typeface="Arial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57276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7B7799"/>
                </a:solidFill>
                <a:latin typeface="Arial"/>
              </a:rPr>
              <a:t>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572768"/>
            <a:ext cx="4251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7B7799"/>
                </a:solidFill>
                <a:latin typeface="Arial"/>
              </a:rPr>
              <a:t>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1792224"/>
            <a:ext cx="10911535" cy="0"/>
          </a:xfrm>
          <a:prstGeom prst="line">
            <a:avLst/>
          </a:prstGeom>
          <a:ln w="9525">
            <a:solidFill>
              <a:srgbClr val="E5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59" y="192024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EC0889"/>
                </a:solidFill>
                <a:latin typeface="Arial"/>
              </a:rPr>
              <a:t>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10911535" cy="530352"/>
          </a:xfrm>
          <a:prstGeom prst="rect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50292" cy="530352"/>
          </a:xfrm>
          <a:prstGeom prst="rect">
            <a:avLst/>
          </a:prstGeom>
          <a:solidFill>
            <a:srgbClr val="EC088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139696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1F63"/>
                </a:solidFill>
                <a:latin typeface="Arial"/>
              </a:rPr>
              <a:t>robertb-gcp-lab1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139696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B7799"/>
                </a:solidFill>
                <a:latin typeface="Arial"/>
              </a:rPr>
              <a:t>EDA1100V_TRACE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13969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C0889"/>
                </a:solidFill>
                <a:latin typeface="Arial"/>
              </a:rPr>
              <a:t>Advanced analysis full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139696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D3760"/>
                </a:solidFill>
                <a:latin typeface="Arial"/>
              </a:rPr>
              <a:t>250 / 250 devices · 6 more waiting in Discovery · 361,605 trigger drops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70048"/>
            <a:ext cx="50292" cy="530352"/>
          </a:xfrm>
          <a:prstGeom prst="rect">
            <a:avLst/>
          </a:prstGeom>
          <a:solidFill>
            <a:srgbClr val="EC088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2670048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1F63"/>
                </a:solidFill>
                <a:latin typeface="Arial"/>
              </a:rPr>
              <a:t>robertb-sensor-3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67004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B7799"/>
                </a:solidFill>
                <a:latin typeface="Arial"/>
              </a:rPr>
              <a:t>EDA1100V_TRACE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2670048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C0889"/>
                </a:solidFill>
                <a:latin typeface="Arial"/>
              </a:rPr>
              <a:t>Trigger drops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670048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D3760"/>
                </a:solidFill>
                <a:latin typeface="Arial"/>
              </a:rPr>
              <a:t>800,133 drops · trigger load peaked at 45% of available cycles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3649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05918"/>
                </a:solidFill>
                <a:latin typeface="Arial"/>
              </a:rPr>
              <a:t>WARNING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584448"/>
            <a:ext cx="10911535" cy="530352"/>
          </a:xfrm>
          <a:prstGeom prst="rect">
            <a:avLst/>
          </a:prstGeom>
          <a:solidFill>
            <a:srgbClr val="F8F8F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584448"/>
            <a:ext cx="50292" cy="530352"/>
          </a:xfrm>
          <a:prstGeom prst="rect">
            <a:avLst/>
          </a:prstGeom>
          <a:solidFill>
            <a:srgbClr val="F0591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584448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1F63"/>
                </a:solidFill>
                <a:latin typeface="Arial"/>
              </a:rPr>
              <a:t>eda.Pai.CyberRange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358444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B7799"/>
                </a:solidFill>
                <a:latin typeface="Arial"/>
              </a:rPr>
              <a:t>EDA1100V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3584448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05918"/>
                </a:solidFill>
                <a:latin typeface="Arial"/>
              </a:rPr>
              <a:t>Trigger drops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584448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D3760"/>
                </a:solidFill>
                <a:latin typeface="Arial"/>
              </a:rPr>
              <a:t>265,282 drops · trigger load peaked at 4% of available cycles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114800"/>
            <a:ext cx="50292" cy="530352"/>
          </a:xfrm>
          <a:prstGeom prst="rect">
            <a:avLst/>
          </a:prstGeom>
          <a:solidFill>
            <a:srgbClr val="F0591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114800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61F63"/>
                </a:solidFill>
                <a:latin typeface="Arial"/>
              </a:rPr>
              <a:t>SE-O365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114800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B7799"/>
                </a:solidFill>
                <a:latin typeface="Arial"/>
              </a:rPr>
              <a:t>EDA1100V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114800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05918"/>
                </a:solidFill>
                <a:latin typeface="Arial"/>
              </a:rPr>
              <a:t>Stale synchronization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114800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D3760"/>
                </a:solidFill>
                <a:latin typeface="Arial"/>
              </a:rPr>
              <a:t>Last synchronized 15 Jan 2026 · 191 days ago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82896"/>
            <a:ext cx="10911535" cy="768096"/>
          </a:xfrm>
          <a:prstGeom prst="roundRect">
            <a:avLst>
              <a:gd name="adj" fmla="val 16000"/>
            </a:avLst>
          </a:prstGeom>
          <a:solidFill>
            <a:srgbClr val="F8F8FB"/>
          </a:solidFill>
          <a:ln w="9525">
            <a:solidFill>
              <a:srgbClr val="E5E4ED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882896"/>
            <a:ext cx="50292" cy="768096"/>
          </a:xfrm>
          <a:prstGeom prst="rect">
            <a:avLst/>
          </a:prstGeom>
          <a:solidFill>
            <a:srgbClr val="C3C1D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02005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61F63"/>
                </a:solidFill>
                <a:latin typeface="Arial"/>
              </a:rPr>
              <a:t>62 sensors returned no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5294376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7B7799"/>
                </a:solidFill>
                <a:latin typeface="Arial"/>
              </a:rPr>
              <a:t>61 unreachable · 1 requires additional configuration. No utilization conclusions are drawn for these sensors.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148072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7B7799"/>
                </a:solidFill>
                <a:latin typeface="Arial"/>
              </a:rPr>
              <a:t>Full list in 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7B7799"/>
                </a:solidFill>
                <a:latin typeface="Arial"/>
              </a:rPr>
              <a:t>CAPACITY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61F63"/>
                </a:solidFill>
                <a:latin typeface="Arial"/>
              </a:rPr>
              <a:t>Packet rate headroom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7B7799"/>
                </a:solidFill>
                <a:latin typeface="Arial"/>
              </a:rPr>
              <a:t>Peak 1-hour average against model capacity · EDA1100V_TRACE · rated 140K p/s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E5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B7799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7B7799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eh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8183880" y="1682495"/>
            <a:ext cx="0" cy="4096513"/>
          </a:xfrm>
          <a:prstGeom prst="line">
            <a:avLst/>
          </a:prstGeom>
          <a:ln w="9525">
            <a:solidFill>
              <a:srgbClr val="F0591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18120" y="148132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spc="100">
                <a:solidFill>
                  <a:srgbClr val="F05918"/>
                </a:solidFill>
                <a:latin typeface="Arial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148132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spc="100">
                <a:solidFill>
                  <a:srgbClr val="7B7799"/>
                </a:solidFill>
                <a:latin typeface="Arial"/>
              </a:rPr>
              <a:t>MODEL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87651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robertb-gcp-lab1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796795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796795"/>
            <a:ext cx="1344168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1787651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41863" y="1787651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29K p/s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8998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robertb-sensor-3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199132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2199132"/>
            <a:ext cx="288036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218998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1863" y="218998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6.3K p/s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9232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7_22_26_SalkeId_Ultra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601468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63240" y="2601468"/>
            <a:ext cx="32004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59232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&lt;1%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1863" y="259232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712 p/s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99466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eda.Casillas3.us-east-2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003803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63240" y="3003803"/>
            <a:ext cx="32004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19" y="299466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&lt;1%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3" y="299466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238 p/s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39699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eda.Pankaj-New-CR.ap-southeas…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3406139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63240" y="3406139"/>
            <a:ext cx="32004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19" y="339699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&lt;1%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3" y="33969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215 p/s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799331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ariel-aws-ultra-eda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808476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63240" y="3808476"/>
            <a:ext cx="32004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19" y="3799331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&lt;1%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1863" y="3799331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120 p/s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0166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eda.natejohnson.us-east-2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4210812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63240" y="4210812"/>
            <a:ext cx="32004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19" y="420166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&lt;1%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41863" y="420166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116 p/s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60400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ArielSmi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4613148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63240" y="4613148"/>
            <a:ext cx="32004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6919" y="460400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&lt;1%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41863" y="460400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107 p/s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00634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AWS-SE360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5015484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63240" y="5015484"/>
            <a:ext cx="32004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19" y="500634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&lt;1%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1863" y="500634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63 p/s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4086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D3760"/>
                </a:solidFill>
                <a:latin typeface="Arial"/>
              </a:rPr>
              <a:t>eda.jasonj-360-range-2026.us-…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5417820"/>
            <a:ext cx="6400800" cy="219456"/>
          </a:xfrm>
          <a:prstGeom prst="rect">
            <a:avLst/>
          </a:prstGeom>
          <a:solidFill>
            <a:srgbClr val="EFEEF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63240" y="5417820"/>
            <a:ext cx="32004" cy="219456"/>
          </a:xfrm>
          <a:prstGeom prst="rect">
            <a:avLst/>
          </a:prstGeom>
          <a:solidFill>
            <a:srgbClr val="00AAE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46919" y="540867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261F63"/>
                </a:solidFill>
                <a:latin typeface="Arial"/>
              </a:rPr>
              <a:t>&lt;1%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41863" y="540867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12 p/s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40080" y="5961888"/>
            <a:ext cx="10911535" cy="0"/>
          </a:xfrm>
          <a:prstGeom prst="line">
            <a:avLst/>
          </a:prstGeom>
          <a:ln w="9525">
            <a:solidFill>
              <a:srgbClr val="E5E4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0080" y="60899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B7799"/>
                </a:solidFill>
                <a:latin typeface="Arial"/>
              </a:rPr>
              <a:t>10 of 48 EDA1100V_TRACE sensors reported packet data · 38 returned no data and are excluded rather than shown as zero.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6089904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B7799"/>
                </a:solidFill>
                <a:latin typeface="Arial"/>
              </a:rPr>
              <a:t>Sorted by percent of model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